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36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6.png" ContentType="image/png"/>
  <Override PartName="/ppt/media/image21.png" ContentType="image/png"/>
  <Override PartName="/ppt/media/image11.png" ContentType="image/png"/>
  <Override PartName="/ppt/media/image7.png" ContentType="image/png"/>
  <Override PartName="/ppt/media/image22.png" ContentType="image/png"/>
  <Override PartName="/ppt/media/image10.jpeg" ContentType="image/jpeg"/>
  <Override PartName="/ppt/media/image34.png" ContentType="image/png"/>
  <Override PartName="/ppt/media/image14.png" ContentType="image/png"/>
  <Override PartName="/ppt/media/image8.png" ContentType="image/png"/>
  <Override PartName="/ppt/media/image23.png" ContentType="image/png"/>
  <Override PartName="/ppt/media/image9.png" ContentType="image/png"/>
  <Override PartName="/ppt/media/image24.png" ContentType="image/png"/>
  <Override PartName="/ppt/media/image12.png" ContentType="image/png"/>
  <Override PartName="/ppt/media/image13.png" ContentType="image/png"/>
  <Override PartName="/ppt/media/image19.png" ContentType="image/png"/>
  <Override PartName="/ppt/media/image5.png" ContentType="image/png"/>
  <Override PartName="/ppt/media/image20.png" ContentType="image/png"/>
  <Override PartName="/ppt/media/image28.png" ContentType="image/png"/>
  <Override PartName="/ppt/media/image25.png" ContentType="image/png"/>
  <Override PartName="/ppt/media/image16.png" ContentType="image/png"/>
  <Override PartName="/ppt/media/image31.png" ContentType="image/png"/>
  <Override PartName="/ppt/media/image26.png" ContentType="image/png"/>
  <Override PartName="/ppt/media/image17.png" ContentType="image/png"/>
  <Override PartName="/ppt/media/image32.png" ContentType="image/png"/>
  <Override PartName="/ppt/media/image27.png" ContentType="image/png"/>
  <Override PartName="/ppt/media/image18.png" ContentType="image/png"/>
  <Override PartName="/ppt/media/image33.png" ContentType="image/png"/>
  <Override PartName="/ppt/media/image15.png" ContentType="image/png"/>
  <Override PartName="/ppt/media/image30.png" ContentType="image/png"/>
  <Override PartName="/ppt/media/image29.png" ContentType="image/png"/>
  <Override PartName="/ppt/media/image35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729DCD87-6C10-46F1-ABAB-CC14AA0FD052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2F47C71-C430-4D32-938B-42E4C9FB224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614851B-6422-4DA3-9F31-E54A5086F07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C38E0D2-8C95-469E-93C3-DC5A3FAEBD6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AA9B4BA-9C6F-4998-A464-DCA3BF97490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BF4B15C-A755-470D-B461-D5B63187C0D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E1D4E3F-2603-4AAB-8428-C165418C287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173DF48-DA18-4AE6-B0ED-2355D6B91A2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F68D83-1F75-472C-BFFF-D73AD2C49B5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 1"/>
          <p:cNvSpPr/>
          <p:nvPr/>
        </p:nvSpPr>
        <p:spPr>
          <a:xfrm>
            <a:off x="502920" y="4114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148" strike="noStrike">
                <a:solidFill>
                  <a:srgbClr val="94a3b8"/>
                </a:solidFill>
                <a:latin typeface="Calibri"/>
                <a:ea typeface="Calibri"/>
              </a:rPr>
              <a:t>CloudBoosta Academy  ·  Group B  ·  Option 1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502920" y="777240"/>
            <a:ext cx="6400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  <a:ea typeface="Calibri"/>
              </a:rPr>
              <a:t>Sloff Electronics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502920" y="1719000"/>
            <a:ext cx="6400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38bdf8"/>
                </a:solidFill>
                <a:latin typeface="Calibri"/>
                <a:ea typeface="Calibri"/>
              </a:rPr>
              <a:t>RAG Chatbot on AWS Bedrock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502920" y="2359080"/>
            <a:ext cx="4114440" cy="36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5"/>
          <p:cNvSpPr/>
          <p:nvPr/>
        </p:nvSpPr>
        <p:spPr>
          <a:xfrm>
            <a:off x="502920" y="2514600"/>
            <a:ext cx="5668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Retrieval-Augmented Generation using Amazon Bedrock Knowledge Base,</a:t>
            </a:r>
            <a:endParaRPr b="0" lang="en-US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Titan Embeddings G1, OpenSearch Serverless, and Claude Sonnet 4.6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502920" y="3337560"/>
            <a:ext cx="5303160" cy="1554120"/>
          </a:xfrm>
          <a:prstGeom prst="rect">
            <a:avLst/>
          </a:prstGeom>
          <a:solidFill>
            <a:srgbClr val="132238"/>
          </a:solidFill>
          <a:ln w="6350">
            <a:solidFill>
              <a:srgbClr val="1e3a5f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51" name="Image 0" descr="preencoded.png"/>
          <p:cNvPicPr/>
          <p:nvPr/>
        </p:nvPicPr>
        <p:blipFill>
          <a:blip r:embed="rId1"/>
          <a:stretch/>
        </p:blipFill>
        <p:spPr>
          <a:xfrm>
            <a:off x="685800" y="349308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52" name="Text 7"/>
          <p:cNvSpPr/>
          <p:nvPr/>
        </p:nvSpPr>
        <p:spPr>
          <a:xfrm>
            <a:off x="1078920" y="349308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ea5e9"/>
                </a:solidFill>
                <a:latin typeface="Calibri"/>
                <a:ea typeface="Calibri"/>
              </a:rPr>
              <a:t>Group B Members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3" name="Text 8"/>
          <p:cNvSpPr/>
          <p:nvPr/>
        </p:nvSpPr>
        <p:spPr>
          <a:xfrm>
            <a:off x="685800" y="3886200"/>
            <a:ext cx="2468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8fafc"/>
                </a:solidFill>
                <a:latin typeface="Calibri"/>
                <a:ea typeface="Calibri"/>
              </a:rPr>
              <a:t>· Osahon Igbogbo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685800" y="4123800"/>
            <a:ext cx="2468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8fafc"/>
                </a:solidFill>
                <a:latin typeface="Calibri"/>
                <a:ea typeface="Calibri"/>
              </a:rPr>
              <a:t>· Emmanuel Onuoha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55" name="Text 10"/>
          <p:cNvSpPr/>
          <p:nvPr/>
        </p:nvSpPr>
        <p:spPr>
          <a:xfrm>
            <a:off x="685800" y="4361760"/>
            <a:ext cx="2468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8fafc"/>
                </a:solidFill>
                <a:latin typeface="Calibri"/>
                <a:ea typeface="Calibri"/>
              </a:rPr>
              <a:t>· Bolarinwa Akinde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56" name="Text 11"/>
          <p:cNvSpPr/>
          <p:nvPr/>
        </p:nvSpPr>
        <p:spPr>
          <a:xfrm>
            <a:off x="3291840" y="3886200"/>
            <a:ext cx="2468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8fafc"/>
                </a:solidFill>
                <a:latin typeface="Calibri"/>
                <a:ea typeface="Calibri"/>
              </a:rPr>
              <a:t>· Chinedu Izuelu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57" name="Text 12"/>
          <p:cNvSpPr/>
          <p:nvPr/>
        </p:nvSpPr>
        <p:spPr>
          <a:xfrm>
            <a:off x="3291840" y="4123800"/>
            <a:ext cx="2468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8fafc"/>
                </a:solidFill>
                <a:latin typeface="Calibri"/>
                <a:ea typeface="Calibri"/>
              </a:rPr>
              <a:t>· Israel Olayinka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58" name="Shape 13"/>
          <p:cNvSpPr/>
          <p:nvPr/>
        </p:nvSpPr>
        <p:spPr>
          <a:xfrm>
            <a:off x="6675120" y="73080"/>
            <a:ext cx="2468520" cy="506988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9" name="Image 1" descr="preencoded.png"/>
          <p:cNvPicPr/>
          <p:nvPr/>
        </p:nvPicPr>
        <p:blipFill>
          <a:blip r:embed="rId2"/>
          <a:stretch/>
        </p:blipFill>
        <p:spPr>
          <a:xfrm>
            <a:off x="7589520" y="457200"/>
            <a:ext cx="731160" cy="731160"/>
          </a:xfrm>
          <a:prstGeom prst="rect">
            <a:avLst/>
          </a:prstGeom>
          <a:ln w="0">
            <a:noFill/>
          </a:ln>
        </p:spPr>
      </p:pic>
      <p:pic>
        <p:nvPicPr>
          <p:cNvPr id="60" name="Image 2" descr="preencoded.png"/>
          <p:cNvPicPr/>
          <p:nvPr/>
        </p:nvPicPr>
        <p:blipFill>
          <a:blip r:embed="rId3"/>
          <a:stretch/>
        </p:blipFill>
        <p:spPr>
          <a:xfrm>
            <a:off x="7589520" y="1508760"/>
            <a:ext cx="731160" cy="731160"/>
          </a:xfrm>
          <a:prstGeom prst="rect">
            <a:avLst/>
          </a:prstGeom>
          <a:ln w="0">
            <a:noFill/>
          </a:ln>
        </p:spPr>
      </p:pic>
      <p:pic>
        <p:nvPicPr>
          <p:cNvPr id="61" name="Image 3" descr="preencoded.png"/>
          <p:cNvPicPr/>
          <p:nvPr/>
        </p:nvPicPr>
        <p:blipFill>
          <a:blip r:embed="rId4"/>
          <a:stretch/>
        </p:blipFill>
        <p:spPr>
          <a:xfrm>
            <a:off x="7589520" y="2560320"/>
            <a:ext cx="731160" cy="731160"/>
          </a:xfrm>
          <a:prstGeom prst="rect">
            <a:avLst/>
          </a:prstGeom>
          <a:ln w="0">
            <a:noFill/>
          </a:ln>
        </p:spPr>
      </p:pic>
      <p:pic>
        <p:nvPicPr>
          <p:cNvPr id="62" name="Image 4" descr="preencoded.png"/>
          <p:cNvPicPr/>
          <p:nvPr/>
        </p:nvPicPr>
        <p:blipFill>
          <a:blip r:embed="rId5"/>
          <a:stretch/>
        </p:blipFill>
        <p:spPr>
          <a:xfrm>
            <a:off x="7589520" y="3611880"/>
            <a:ext cx="731160" cy="731160"/>
          </a:xfrm>
          <a:prstGeom prst="rect">
            <a:avLst/>
          </a:prstGeom>
          <a:ln w="0">
            <a:noFill/>
          </a:ln>
        </p:spPr>
      </p:pic>
      <p:sp>
        <p:nvSpPr>
          <p:cNvPr id="63" name="Text 14"/>
          <p:cNvSpPr/>
          <p:nvPr/>
        </p:nvSpPr>
        <p:spPr>
          <a:xfrm>
            <a:off x="6766560" y="59436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S3 + Bedrock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64" name="Text 15"/>
          <p:cNvSpPr/>
          <p:nvPr/>
        </p:nvSpPr>
        <p:spPr>
          <a:xfrm>
            <a:off x="6766560" y="164592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Embeddings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65" name="Text 16"/>
          <p:cNvSpPr/>
          <p:nvPr/>
        </p:nvSpPr>
        <p:spPr>
          <a:xfrm>
            <a:off x="6766560" y="269748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Vector Search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66" name="Text 17"/>
          <p:cNvSpPr/>
          <p:nvPr/>
        </p:nvSpPr>
        <p:spPr>
          <a:xfrm>
            <a:off x="6766560" y="374904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Claude 4.6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67" name="Text 18"/>
          <p:cNvSpPr/>
          <p:nvPr/>
        </p:nvSpPr>
        <p:spPr>
          <a:xfrm>
            <a:off x="502920" y="484632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May  2026  ·  us-east-1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8" name="Shape 19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1"/>
          <p:cNvSpPr/>
          <p:nvPr/>
        </p:nvSpPr>
        <p:spPr>
          <a:xfrm>
            <a:off x="457200" y="2012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299" strike="noStrike">
                <a:solidFill>
                  <a:srgbClr val="0ea5e9"/>
                </a:solidFill>
                <a:latin typeface="Calibri"/>
                <a:ea typeface="Calibri"/>
              </a:rPr>
              <a:t>THE PROBLEM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457200" y="5029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a1628"/>
                </a:solidFill>
                <a:latin typeface="Calibri"/>
                <a:ea typeface="Calibri"/>
              </a:rPr>
              <a:t>Why a RAG chatbot?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365760" y="1188720"/>
            <a:ext cx="3931560" cy="365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3" name="Shape 4"/>
          <p:cNvSpPr/>
          <p:nvPr/>
        </p:nvSpPr>
        <p:spPr>
          <a:xfrm>
            <a:off x="365760" y="1188720"/>
            <a:ext cx="3931560" cy="5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5"/>
          <p:cNvSpPr/>
          <p:nvPr/>
        </p:nvSpPr>
        <p:spPr>
          <a:xfrm>
            <a:off x="548640" y="1298520"/>
            <a:ext cx="3565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a1628"/>
                </a:solidFill>
                <a:latin typeface="Calibri"/>
                <a:ea typeface="Calibri"/>
              </a:rPr>
              <a:t>Business Challenge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5" name="Shape 6"/>
          <p:cNvSpPr/>
          <p:nvPr/>
        </p:nvSpPr>
        <p:spPr>
          <a:xfrm>
            <a:off x="548640" y="1764720"/>
            <a:ext cx="182520" cy="1825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7"/>
          <p:cNvSpPr/>
          <p:nvPr/>
        </p:nvSpPr>
        <p:spPr>
          <a:xfrm>
            <a:off x="822960" y="173736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Static PDFs hold all company knowledge, no intelligent query layer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7" name="Shape 8"/>
          <p:cNvSpPr/>
          <p:nvPr/>
        </p:nvSpPr>
        <p:spPr>
          <a:xfrm>
            <a:off x="548640" y="2468880"/>
            <a:ext cx="182520" cy="1825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9"/>
          <p:cNvSpPr/>
          <p:nvPr/>
        </p:nvSpPr>
        <p:spPr>
          <a:xfrm>
            <a:off x="822960" y="244152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Traditional search returns documents, not answers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9" name="Shape 10"/>
          <p:cNvSpPr/>
          <p:nvPr/>
        </p:nvSpPr>
        <p:spPr>
          <a:xfrm>
            <a:off x="548640" y="3173040"/>
            <a:ext cx="182520" cy="1825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11"/>
          <p:cNvSpPr/>
          <p:nvPr/>
        </p:nvSpPr>
        <p:spPr>
          <a:xfrm>
            <a:off x="822960" y="314568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Support agents manually search documents for every customer query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" name="Shape 12"/>
          <p:cNvSpPr/>
          <p:nvPr/>
        </p:nvSpPr>
        <p:spPr>
          <a:xfrm>
            <a:off x="548640" y="3877200"/>
            <a:ext cx="182520" cy="1825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13"/>
          <p:cNvSpPr/>
          <p:nvPr/>
        </p:nvSpPr>
        <p:spPr>
          <a:xfrm>
            <a:off x="822960" y="384948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Standard LLMs hallucinate, they can't access proprietary data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Shape 14"/>
          <p:cNvSpPr/>
          <p:nvPr/>
        </p:nvSpPr>
        <p:spPr>
          <a:xfrm>
            <a:off x="4846320" y="1188720"/>
            <a:ext cx="3931560" cy="365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4" name="Shape 15"/>
          <p:cNvSpPr/>
          <p:nvPr/>
        </p:nvSpPr>
        <p:spPr>
          <a:xfrm>
            <a:off x="4846320" y="1188720"/>
            <a:ext cx="3931560" cy="5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16"/>
          <p:cNvSpPr/>
          <p:nvPr/>
        </p:nvSpPr>
        <p:spPr>
          <a:xfrm>
            <a:off x="5029200" y="1298520"/>
            <a:ext cx="3565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a1628"/>
                </a:solidFill>
                <a:latin typeface="Calibri"/>
                <a:ea typeface="Calibri"/>
              </a:rPr>
              <a:t>RAG Solution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86" name="Image 0" descr="preencoded.png"/>
          <p:cNvPicPr/>
          <p:nvPr/>
        </p:nvPicPr>
        <p:blipFill>
          <a:blip r:embed="rId1"/>
          <a:stretch/>
        </p:blipFill>
        <p:spPr>
          <a:xfrm>
            <a:off x="5029200" y="1737360"/>
            <a:ext cx="228240" cy="228240"/>
          </a:xfrm>
          <a:prstGeom prst="rect">
            <a:avLst/>
          </a:prstGeom>
          <a:ln w="0">
            <a:noFill/>
          </a:ln>
        </p:spPr>
      </p:pic>
      <p:sp>
        <p:nvSpPr>
          <p:cNvPr id="87" name="Text 17"/>
          <p:cNvSpPr/>
          <p:nvPr/>
        </p:nvSpPr>
        <p:spPr>
          <a:xfrm>
            <a:off x="5440680" y="173736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Accepts natural language questions in plain English</a:t>
            </a:r>
            <a:endParaRPr b="0" lang="en-US" sz="1100" spc="-1" strike="noStrike">
              <a:latin typeface="Arial"/>
            </a:endParaRPr>
          </a:p>
        </p:txBody>
      </p:sp>
      <p:pic>
        <p:nvPicPr>
          <p:cNvPr id="88" name="Image 1" descr="preencoded.png"/>
          <p:cNvPicPr/>
          <p:nvPr/>
        </p:nvPicPr>
        <p:blipFill>
          <a:blip r:embed="rId2"/>
          <a:stretch/>
        </p:blipFill>
        <p:spPr>
          <a:xfrm>
            <a:off x="5029200" y="2441520"/>
            <a:ext cx="228240" cy="228240"/>
          </a:xfrm>
          <a:prstGeom prst="rect">
            <a:avLst/>
          </a:prstGeom>
          <a:ln w="0">
            <a:noFill/>
          </a:ln>
        </p:spPr>
      </p:pic>
      <p:sp>
        <p:nvSpPr>
          <p:cNvPr id="89" name="Text 18"/>
          <p:cNvSpPr/>
          <p:nvPr/>
        </p:nvSpPr>
        <p:spPr>
          <a:xfrm>
            <a:off x="5440680" y="244152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Retrieves relevant passages from Sloff Electronics' own documents</a:t>
            </a:r>
            <a:endParaRPr b="0" lang="en-US" sz="1100" spc="-1" strike="noStrike">
              <a:latin typeface="Arial"/>
            </a:endParaRPr>
          </a:p>
        </p:txBody>
      </p:sp>
      <p:pic>
        <p:nvPicPr>
          <p:cNvPr id="90" name="Image 2" descr="preencoded.png"/>
          <p:cNvPicPr/>
          <p:nvPr/>
        </p:nvPicPr>
        <p:blipFill>
          <a:blip r:embed="rId3"/>
          <a:stretch/>
        </p:blipFill>
        <p:spPr>
          <a:xfrm>
            <a:off x="5029200" y="3145680"/>
            <a:ext cx="228240" cy="228240"/>
          </a:xfrm>
          <a:prstGeom prst="rect">
            <a:avLst/>
          </a:prstGeom>
          <a:ln w="0">
            <a:noFill/>
          </a:ln>
        </p:spPr>
      </p:pic>
      <p:sp>
        <p:nvSpPr>
          <p:cNvPr id="91" name="Text 19"/>
          <p:cNvSpPr/>
          <p:nvPr/>
        </p:nvSpPr>
        <p:spPr>
          <a:xfrm>
            <a:off x="5440680" y="314568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Generates precise, cited answers grounded in source data only</a:t>
            </a:r>
            <a:endParaRPr b="0" lang="en-US" sz="1100" spc="-1" strike="noStrike">
              <a:latin typeface="Arial"/>
            </a:endParaRPr>
          </a:p>
        </p:txBody>
      </p:sp>
      <p:pic>
        <p:nvPicPr>
          <p:cNvPr id="92" name="Image 3" descr="preencoded.png"/>
          <p:cNvPicPr/>
          <p:nvPr/>
        </p:nvPicPr>
        <p:blipFill>
          <a:blip r:embed="rId4"/>
          <a:stretch/>
        </p:blipFill>
        <p:spPr>
          <a:xfrm>
            <a:off x="5029200" y="3849480"/>
            <a:ext cx="228240" cy="228240"/>
          </a:xfrm>
          <a:prstGeom prst="rect">
            <a:avLst/>
          </a:prstGeom>
          <a:ln w="0">
            <a:noFill/>
          </a:ln>
        </p:spPr>
      </p:pic>
      <p:sp>
        <p:nvSpPr>
          <p:cNvPr id="93" name="Text 20"/>
          <p:cNvSpPr/>
          <p:nvPr/>
        </p:nvSpPr>
        <p:spPr>
          <a:xfrm>
            <a:off x="5440680" y="384948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Cannot hallucinate, constrained to retrieved document chunks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Shape 21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1"/>
          <p:cNvSpPr/>
          <p:nvPr/>
        </p:nvSpPr>
        <p:spPr>
          <a:xfrm>
            <a:off x="457200" y="201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299" strike="noStrike">
                <a:solidFill>
                  <a:srgbClr val="0ea5e9"/>
                </a:solidFill>
                <a:latin typeface="Calibri"/>
                <a:ea typeface="Calibri"/>
              </a:rPr>
              <a:t>SOLUTION ARCHITECTURE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457200" y="4755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0a1628"/>
                </a:solidFill>
                <a:latin typeface="Calibri"/>
                <a:ea typeface="Calibri"/>
              </a:rPr>
              <a:t>Two-phase RAG pipeline on AWS Bedrock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365760" y="1005840"/>
            <a:ext cx="8412120" cy="374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99" name="Image 0" descr="preencoded.png"/>
          <p:cNvPicPr/>
          <p:nvPr/>
        </p:nvPicPr>
        <p:blipFill>
          <a:blip r:embed="rId1"/>
          <a:stretch/>
        </p:blipFill>
        <p:spPr>
          <a:xfrm>
            <a:off x="1691640" y="1097280"/>
            <a:ext cx="5677920" cy="3200040"/>
          </a:xfrm>
          <a:prstGeom prst="rect">
            <a:avLst/>
          </a:prstGeom>
          <a:ln w="0">
            <a:noFill/>
          </a:ln>
        </p:spPr>
      </p:pic>
      <p:sp>
        <p:nvSpPr>
          <p:cNvPr id="100" name="Text 4"/>
          <p:cNvSpPr/>
          <p:nvPr/>
        </p:nvSpPr>
        <p:spPr>
          <a:xfrm>
            <a:off x="1554480" y="4462200"/>
            <a:ext cx="6043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Figure 1: Ingestion phase (top) and Query phase (bottom). All services in us-east-1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1" name="Shape 5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1"/>
          <p:cNvSpPr/>
          <p:nvPr/>
        </p:nvSpPr>
        <p:spPr>
          <a:xfrm>
            <a:off x="457200" y="201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299" strike="noStrike">
                <a:solidFill>
                  <a:srgbClr val="0ea5e9"/>
                </a:solidFill>
                <a:latin typeface="Calibri"/>
                <a:ea typeface="Calibri"/>
              </a:rPr>
              <a:t>AWS SERVICES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457200" y="4755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a1628"/>
                </a:solidFill>
                <a:latin typeface="Calibri"/>
                <a:ea typeface="Calibri"/>
              </a:rPr>
              <a:t>Six managed services — zero self-managed infrastructure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5" name="Shape 3"/>
          <p:cNvSpPr/>
          <p:nvPr/>
        </p:nvSpPr>
        <p:spPr>
          <a:xfrm>
            <a:off x="365760" y="1051560"/>
            <a:ext cx="2651400" cy="1599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6" name="Shape 4"/>
          <p:cNvSpPr/>
          <p:nvPr/>
        </p:nvSpPr>
        <p:spPr>
          <a:xfrm>
            <a:off x="365760" y="1051560"/>
            <a:ext cx="54360" cy="1599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hape 5"/>
          <p:cNvSpPr/>
          <p:nvPr/>
        </p:nvSpPr>
        <p:spPr>
          <a:xfrm>
            <a:off x="530280" y="1307520"/>
            <a:ext cx="456840" cy="4568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8" name="Image 0" descr="preencoded.png"/>
          <p:cNvPicPr/>
          <p:nvPr/>
        </p:nvPicPr>
        <p:blipFill>
          <a:blip r:embed="rId1"/>
          <a:stretch/>
        </p:blipFill>
        <p:spPr>
          <a:xfrm>
            <a:off x="557640" y="133488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109" name="Text 6"/>
          <p:cNvSpPr/>
          <p:nvPr/>
        </p:nvSpPr>
        <p:spPr>
          <a:xfrm>
            <a:off x="1078920" y="123444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Amazon S3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1078920" y="15634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ea5e9"/>
                </a:solidFill>
                <a:latin typeface="Calibri"/>
                <a:ea typeface="Calibri"/>
              </a:rPr>
              <a:t>Document storage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530280" y="201168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sloff-electronics-kb-docs · 5 PDFs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12" name="Shape 9"/>
          <p:cNvSpPr/>
          <p:nvPr/>
        </p:nvSpPr>
        <p:spPr>
          <a:xfrm>
            <a:off x="3200400" y="1051560"/>
            <a:ext cx="2651400" cy="1599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3" name="Shape 10"/>
          <p:cNvSpPr/>
          <p:nvPr/>
        </p:nvSpPr>
        <p:spPr>
          <a:xfrm>
            <a:off x="3200400" y="1051560"/>
            <a:ext cx="54360" cy="1599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Shape 11"/>
          <p:cNvSpPr/>
          <p:nvPr/>
        </p:nvSpPr>
        <p:spPr>
          <a:xfrm>
            <a:off x="3364920" y="1307520"/>
            <a:ext cx="456840" cy="4568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15" name="Image 1" descr="preencoded.png"/>
          <p:cNvPicPr/>
          <p:nvPr/>
        </p:nvPicPr>
        <p:blipFill>
          <a:blip r:embed="rId2"/>
          <a:stretch/>
        </p:blipFill>
        <p:spPr>
          <a:xfrm>
            <a:off x="3392280" y="133488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116" name="Text 12"/>
          <p:cNvSpPr/>
          <p:nvPr/>
        </p:nvSpPr>
        <p:spPr>
          <a:xfrm>
            <a:off x="3913560" y="123444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Bedrock Knowledge Base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7" name="Text 13"/>
          <p:cNvSpPr/>
          <p:nvPr/>
        </p:nvSpPr>
        <p:spPr>
          <a:xfrm>
            <a:off x="3913560" y="15634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7c3aed"/>
                </a:solidFill>
                <a:latin typeface="Calibri"/>
                <a:ea typeface="Calibri"/>
              </a:rPr>
              <a:t>RAG orchestration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8" name="Text 14"/>
          <p:cNvSpPr/>
          <p:nvPr/>
        </p:nvSpPr>
        <p:spPr>
          <a:xfrm>
            <a:off x="3364920" y="201168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sloff-electronics-kb · us-east-1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19" name="Shape 15"/>
          <p:cNvSpPr/>
          <p:nvPr/>
        </p:nvSpPr>
        <p:spPr>
          <a:xfrm>
            <a:off x="6035040" y="1051560"/>
            <a:ext cx="2651400" cy="1599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0" name="Shape 16"/>
          <p:cNvSpPr/>
          <p:nvPr/>
        </p:nvSpPr>
        <p:spPr>
          <a:xfrm>
            <a:off x="6035040" y="1051560"/>
            <a:ext cx="54360" cy="1599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Shape 17"/>
          <p:cNvSpPr/>
          <p:nvPr/>
        </p:nvSpPr>
        <p:spPr>
          <a:xfrm>
            <a:off x="6199560" y="1307520"/>
            <a:ext cx="456840" cy="4568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22" name="Image 2" descr="preencoded.png"/>
          <p:cNvPicPr/>
          <p:nvPr/>
        </p:nvPicPr>
        <p:blipFill>
          <a:blip r:embed="rId3"/>
          <a:stretch/>
        </p:blipFill>
        <p:spPr>
          <a:xfrm>
            <a:off x="6226920" y="133488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123" name="Text 18"/>
          <p:cNvSpPr/>
          <p:nvPr/>
        </p:nvSpPr>
        <p:spPr>
          <a:xfrm>
            <a:off x="6748200" y="123444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Titan Embeddings G1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4" name="Text 19"/>
          <p:cNvSpPr/>
          <p:nvPr/>
        </p:nvSpPr>
        <p:spPr>
          <a:xfrm>
            <a:off x="6748200" y="15634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f766e"/>
                </a:solidFill>
                <a:latin typeface="Calibri"/>
                <a:ea typeface="Calibri"/>
              </a:rPr>
              <a:t>Text → vectors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5" name="Text 20"/>
          <p:cNvSpPr/>
          <p:nvPr/>
        </p:nvSpPr>
        <p:spPr>
          <a:xfrm>
            <a:off x="6199560" y="201168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1536-dimensional embeddings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26" name="Shape 21"/>
          <p:cNvSpPr/>
          <p:nvPr/>
        </p:nvSpPr>
        <p:spPr>
          <a:xfrm>
            <a:off x="365760" y="2834640"/>
            <a:ext cx="2651400" cy="1599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7" name="Shape 22"/>
          <p:cNvSpPr/>
          <p:nvPr/>
        </p:nvSpPr>
        <p:spPr>
          <a:xfrm>
            <a:off x="365760" y="2834640"/>
            <a:ext cx="54360" cy="1599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Shape 23"/>
          <p:cNvSpPr/>
          <p:nvPr/>
        </p:nvSpPr>
        <p:spPr>
          <a:xfrm>
            <a:off x="530280" y="3090600"/>
            <a:ext cx="456840" cy="4568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29" name="Image 3" descr="preencoded.png"/>
          <p:cNvPicPr/>
          <p:nvPr/>
        </p:nvPicPr>
        <p:blipFill>
          <a:blip r:embed="rId4"/>
          <a:stretch/>
        </p:blipFill>
        <p:spPr>
          <a:xfrm>
            <a:off x="557640" y="311796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130" name="Text 24"/>
          <p:cNvSpPr/>
          <p:nvPr/>
        </p:nvSpPr>
        <p:spPr>
          <a:xfrm>
            <a:off x="1078920" y="301752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OpenSearch Serverless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1" name="Text 25"/>
          <p:cNvSpPr/>
          <p:nvPr/>
        </p:nvSpPr>
        <p:spPr>
          <a:xfrm>
            <a:off x="1078920" y="334656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f766e"/>
                </a:solidFill>
                <a:latin typeface="Calibri"/>
                <a:ea typeface="Calibri"/>
              </a:rPr>
              <a:t>Vector store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2" name="Text 26"/>
          <p:cNvSpPr/>
          <p:nvPr/>
        </p:nvSpPr>
        <p:spPr>
          <a:xfrm>
            <a:off x="530280" y="379476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Auto-provisioned by Bedrock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33" name="Shape 27"/>
          <p:cNvSpPr/>
          <p:nvPr/>
        </p:nvSpPr>
        <p:spPr>
          <a:xfrm>
            <a:off x="3200400" y="2834640"/>
            <a:ext cx="2651400" cy="1599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4" name="Shape 28"/>
          <p:cNvSpPr/>
          <p:nvPr/>
        </p:nvSpPr>
        <p:spPr>
          <a:xfrm>
            <a:off x="3200400" y="2834640"/>
            <a:ext cx="54360" cy="159984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Shape 29"/>
          <p:cNvSpPr/>
          <p:nvPr/>
        </p:nvSpPr>
        <p:spPr>
          <a:xfrm>
            <a:off x="3364920" y="3090600"/>
            <a:ext cx="456840" cy="456840"/>
          </a:xfrm>
          <a:prstGeom prst="ellipse">
            <a:avLst/>
          </a:prstGeom>
          <a:solidFill>
            <a:srgbClr val="be185d"/>
          </a:solidFill>
          <a:ln w="12700">
            <a:solidFill>
              <a:srgbClr val="be185d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36" name="Image 4" descr="preencoded.png"/>
          <p:cNvPicPr/>
          <p:nvPr/>
        </p:nvPicPr>
        <p:blipFill>
          <a:blip r:embed="rId5"/>
          <a:stretch/>
        </p:blipFill>
        <p:spPr>
          <a:xfrm>
            <a:off x="3392280" y="311796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137" name="Text 30"/>
          <p:cNvSpPr/>
          <p:nvPr/>
        </p:nvSpPr>
        <p:spPr>
          <a:xfrm>
            <a:off x="3913560" y="301752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Claude Sonnet 4.6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8" name="Text 31"/>
          <p:cNvSpPr/>
          <p:nvPr/>
        </p:nvSpPr>
        <p:spPr>
          <a:xfrm>
            <a:off x="3913560" y="334656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e185d"/>
                </a:solidFill>
                <a:latin typeface="Calibri"/>
                <a:ea typeface="Calibri"/>
              </a:rPr>
              <a:t>Response generation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9" name="Text 32"/>
          <p:cNvSpPr/>
          <p:nvPr/>
        </p:nvSpPr>
        <p:spPr>
          <a:xfrm>
            <a:off x="3364920" y="379476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Anthropic via Bedrock InvokeModel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40" name="Shape 33"/>
          <p:cNvSpPr/>
          <p:nvPr/>
        </p:nvSpPr>
        <p:spPr>
          <a:xfrm>
            <a:off x="6035040" y="2834640"/>
            <a:ext cx="2651400" cy="1599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1" name="Shape 34"/>
          <p:cNvSpPr/>
          <p:nvPr/>
        </p:nvSpPr>
        <p:spPr>
          <a:xfrm>
            <a:off x="6035040" y="2834640"/>
            <a:ext cx="54360" cy="15998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Shape 35"/>
          <p:cNvSpPr/>
          <p:nvPr/>
        </p:nvSpPr>
        <p:spPr>
          <a:xfrm>
            <a:off x="6199560" y="3090600"/>
            <a:ext cx="456840" cy="4568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43" name="Image 5" descr="preencoded.png"/>
          <p:cNvPicPr/>
          <p:nvPr/>
        </p:nvPicPr>
        <p:blipFill>
          <a:blip r:embed="rId6"/>
          <a:stretch/>
        </p:blipFill>
        <p:spPr>
          <a:xfrm>
            <a:off x="6226920" y="311796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144" name="Text 36"/>
          <p:cNvSpPr/>
          <p:nvPr/>
        </p:nvSpPr>
        <p:spPr>
          <a:xfrm>
            <a:off x="6748200" y="301752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IAM Service Role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5" name="Text 37"/>
          <p:cNvSpPr/>
          <p:nvPr/>
        </p:nvSpPr>
        <p:spPr>
          <a:xfrm>
            <a:off x="6748200" y="334656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45309"/>
                </a:solidFill>
                <a:latin typeface="Calibri"/>
                <a:ea typeface="Calibri"/>
              </a:rPr>
              <a:t>S3 + OpenSearch access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46" name="Text 38"/>
          <p:cNvSpPr/>
          <p:nvPr/>
        </p:nvSpPr>
        <p:spPr>
          <a:xfrm>
            <a:off x="6199560" y="379476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Auto-generated · scoped permissions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47" name="Shape 39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"/>
          <p:cNvSpPr/>
          <p:nvPr/>
        </p:nvSpPr>
        <p:spPr>
          <a:xfrm>
            <a:off x="457200" y="201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299" strike="noStrike">
                <a:solidFill>
                  <a:srgbClr val="0ea5e9"/>
                </a:solidFill>
                <a:latin typeface="Calibri"/>
                <a:ea typeface="Calibri"/>
              </a:rPr>
              <a:t>KNOWLEDGE BASE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0" name="Text 2"/>
          <p:cNvSpPr/>
          <p:nvPr/>
        </p:nvSpPr>
        <p:spPr>
          <a:xfrm>
            <a:off x="457200" y="4755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0a1628"/>
                </a:solidFill>
                <a:latin typeface="Calibri"/>
                <a:ea typeface="Calibri"/>
              </a:rPr>
              <a:t>Five documents powering the chatbot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51" name="Shape 3"/>
          <p:cNvSpPr/>
          <p:nvPr/>
        </p:nvSpPr>
        <p:spPr>
          <a:xfrm>
            <a:off x="365760" y="1097280"/>
            <a:ext cx="1572480" cy="374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2" name="Shape 4"/>
          <p:cNvSpPr/>
          <p:nvPr/>
        </p:nvSpPr>
        <p:spPr>
          <a:xfrm>
            <a:off x="365760" y="1097280"/>
            <a:ext cx="1572480" cy="5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Shape 5"/>
          <p:cNvSpPr/>
          <p:nvPr/>
        </p:nvSpPr>
        <p:spPr>
          <a:xfrm>
            <a:off x="923400" y="1298520"/>
            <a:ext cx="456840" cy="4568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54" name="Image 0" descr="preencoded.png"/>
          <p:cNvPicPr/>
          <p:nvPr/>
        </p:nvPicPr>
        <p:blipFill>
          <a:blip r:embed="rId1"/>
          <a:stretch/>
        </p:blipFill>
        <p:spPr>
          <a:xfrm>
            <a:off x="951120" y="132588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155" name="Text 6"/>
          <p:cNvSpPr/>
          <p:nvPr/>
        </p:nvSpPr>
        <p:spPr>
          <a:xfrm>
            <a:off x="457200" y="1901880"/>
            <a:ext cx="1389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Product Catalogue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457200" y="2541960"/>
            <a:ext cx="13896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Laptops, smartphones &amp; accessories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Specifications and UK pricing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57" name="Shape 8"/>
          <p:cNvSpPr/>
          <p:nvPr/>
        </p:nvSpPr>
        <p:spPr>
          <a:xfrm>
            <a:off x="457200" y="4206240"/>
            <a:ext cx="1389600" cy="36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9"/>
          <p:cNvSpPr/>
          <p:nvPr/>
        </p:nvSpPr>
        <p:spPr>
          <a:xfrm>
            <a:off x="868680" y="4297680"/>
            <a:ext cx="566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ea5e9"/>
                </a:solidFill>
                <a:latin typeface="Calibri"/>
                <a:ea typeface="Calibri"/>
              </a:rPr>
              <a:t>PDF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59" name="Shape 10"/>
          <p:cNvSpPr/>
          <p:nvPr/>
        </p:nvSpPr>
        <p:spPr>
          <a:xfrm>
            <a:off x="2066400" y="1097280"/>
            <a:ext cx="1572480" cy="374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0" name="Shape 11"/>
          <p:cNvSpPr/>
          <p:nvPr/>
        </p:nvSpPr>
        <p:spPr>
          <a:xfrm>
            <a:off x="2066400" y="1097280"/>
            <a:ext cx="1572480" cy="5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Shape 12"/>
          <p:cNvSpPr/>
          <p:nvPr/>
        </p:nvSpPr>
        <p:spPr>
          <a:xfrm>
            <a:off x="2624400" y="1298520"/>
            <a:ext cx="456840" cy="4568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62" name="Image 1" descr="preencoded.png"/>
          <p:cNvPicPr/>
          <p:nvPr/>
        </p:nvPicPr>
        <p:blipFill>
          <a:blip r:embed="rId2"/>
          <a:stretch/>
        </p:blipFill>
        <p:spPr>
          <a:xfrm>
            <a:off x="2651760" y="132588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163" name="Text 13"/>
          <p:cNvSpPr/>
          <p:nvPr/>
        </p:nvSpPr>
        <p:spPr>
          <a:xfrm>
            <a:off x="2157840" y="1901880"/>
            <a:ext cx="1389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Returns Policy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64" name="Text 14"/>
          <p:cNvSpPr/>
          <p:nvPr/>
        </p:nvSpPr>
        <p:spPr>
          <a:xfrm>
            <a:off x="2157840" y="2541960"/>
            <a:ext cx="13896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Return windows by category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Step-by-step return process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5" name="Shape 15"/>
          <p:cNvSpPr/>
          <p:nvPr/>
        </p:nvSpPr>
        <p:spPr>
          <a:xfrm>
            <a:off x="2157840" y="4206240"/>
            <a:ext cx="1389600" cy="36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16"/>
          <p:cNvSpPr/>
          <p:nvPr/>
        </p:nvSpPr>
        <p:spPr>
          <a:xfrm>
            <a:off x="2569320" y="4297680"/>
            <a:ext cx="566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0b981"/>
                </a:solidFill>
                <a:latin typeface="Calibri"/>
                <a:ea typeface="Calibri"/>
              </a:rPr>
              <a:t>PDF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67" name="Shape 17"/>
          <p:cNvSpPr/>
          <p:nvPr/>
        </p:nvSpPr>
        <p:spPr>
          <a:xfrm>
            <a:off x="3767400" y="1097280"/>
            <a:ext cx="1572480" cy="374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8" name="Shape 18"/>
          <p:cNvSpPr/>
          <p:nvPr/>
        </p:nvSpPr>
        <p:spPr>
          <a:xfrm>
            <a:off x="3767400" y="1097280"/>
            <a:ext cx="1572480" cy="5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Shape 19"/>
          <p:cNvSpPr/>
          <p:nvPr/>
        </p:nvSpPr>
        <p:spPr>
          <a:xfrm>
            <a:off x="4325040" y="1298520"/>
            <a:ext cx="456840" cy="4568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70" name="Image 2" descr="preencoded.png"/>
          <p:cNvPicPr/>
          <p:nvPr/>
        </p:nvPicPr>
        <p:blipFill>
          <a:blip r:embed="rId3"/>
          <a:stretch/>
        </p:blipFill>
        <p:spPr>
          <a:xfrm>
            <a:off x="4352400" y="132588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171" name="Text 20"/>
          <p:cNvSpPr/>
          <p:nvPr/>
        </p:nvSpPr>
        <p:spPr>
          <a:xfrm>
            <a:off x="3858840" y="1901880"/>
            <a:ext cx="1389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Warranty Policy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72" name="Text 21"/>
          <p:cNvSpPr/>
          <p:nvPr/>
        </p:nvSpPr>
        <p:spPr>
          <a:xfrm>
            <a:off x="3858840" y="2541960"/>
            <a:ext cx="13896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Coverage and exclusions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SloffCare+ extended warranty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73" name="Shape 22"/>
          <p:cNvSpPr/>
          <p:nvPr/>
        </p:nvSpPr>
        <p:spPr>
          <a:xfrm>
            <a:off x="3858840" y="4206240"/>
            <a:ext cx="1389600" cy="36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23"/>
          <p:cNvSpPr/>
          <p:nvPr/>
        </p:nvSpPr>
        <p:spPr>
          <a:xfrm>
            <a:off x="4270320" y="4297680"/>
            <a:ext cx="566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7c3aed"/>
                </a:solidFill>
                <a:latin typeface="Calibri"/>
                <a:ea typeface="Calibri"/>
              </a:rPr>
              <a:t>PDF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75" name="Shape 24"/>
          <p:cNvSpPr/>
          <p:nvPr/>
        </p:nvSpPr>
        <p:spPr>
          <a:xfrm>
            <a:off x="5468040" y="1097280"/>
            <a:ext cx="1572480" cy="374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6" name="Shape 25"/>
          <p:cNvSpPr/>
          <p:nvPr/>
        </p:nvSpPr>
        <p:spPr>
          <a:xfrm>
            <a:off x="5468040" y="1097280"/>
            <a:ext cx="1572480" cy="5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Shape 26"/>
          <p:cNvSpPr/>
          <p:nvPr/>
        </p:nvSpPr>
        <p:spPr>
          <a:xfrm>
            <a:off x="6026040" y="1298520"/>
            <a:ext cx="456840" cy="456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78" name="Image 3" descr="preencoded.png"/>
          <p:cNvPicPr/>
          <p:nvPr/>
        </p:nvPicPr>
        <p:blipFill>
          <a:blip r:embed="rId4"/>
          <a:stretch/>
        </p:blipFill>
        <p:spPr>
          <a:xfrm>
            <a:off x="6053400" y="132588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179" name="Text 27"/>
          <p:cNvSpPr/>
          <p:nvPr/>
        </p:nvSpPr>
        <p:spPr>
          <a:xfrm>
            <a:off x="5559480" y="1901880"/>
            <a:ext cx="1389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Customer FAQ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80" name="Text 28"/>
          <p:cNvSpPr/>
          <p:nvPr/>
        </p:nvSpPr>
        <p:spPr>
          <a:xfrm>
            <a:off x="5559480" y="2541960"/>
            <a:ext cx="13896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Troubleshooting guides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Order tracking &amp; account support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1" name="Shape 29"/>
          <p:cNvSpPr/>
          <p:nvPr/>
        </p:nvSpPr>
        <p:spPr>
          <a:xfrm>
            <a:off x="5559480" y="4206240"/>
            <a:ext cx="1389600" cy="36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30"/>
          <p:cNvSpPr/>
          <p:nvPr/>
        </p:nvSpPr>
        <p:spPr>
          <a:xfrm>
            <a:off x="5970960" y="4297680"/>
            <a:ext cx="566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59e0b"/>
                </a:solidFill>
                <a:latin typeface="Calibri"/>
                <a:ea typeface="Calibri"/>
              </a:rPr>
              <a:t>PDF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83" name="Shape 31"/>
          <p:cNvSpPr/>
          <p:nvPr/>
        </p:nvSpPr>
        <p:spPr>
          <a:xfrm>
            <a:off x="7169040" y="1097280"/>
            <a:ext cx="1572480" cy="374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4" name="Shape 32"/>
          <p:cNvSpPr/>
          <p:nvPr/>
        </p:nvSpPr>
        <p:spPr>
          <a:xfrm>
            <a:off x="7169040" y="1097280"/>
            <a:ext cx="1572480" cy="5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Shape 33"/>
          <p:cNvSpPr/>
          <p:nvPr/>
        </p:nvSpPr>
        <p:spPr>
          <a:xfrm>
            <a:off x="7726680" y="1298520"/>
            <a:ext cx="456840" cy="4568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86" name="Image 4" descr="preencoded.png"/>
          <p:cNvPicPr/>
          <p:nvPr/>
        </p:nvPicPr>
        <p:blipFill>
          <a:blip r:embed="rId5"/>
          <a:stretch/>
        </p:blipFill>
        <p:spPr>
          <a:xfrm>
            <a:off x="7754040" y="132588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187" name="Text 34"/>
          <p:cNvSpPr/>
          <p:nvPr/>
        </p:nvSpPr>
        <p:spPr>
          <a:xfrm>
            <a:off x="7260480" y="1901880"/>
            <a:ext cx="1389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Shipping Policy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88" name="Text 35"/>
          <p:cNvSpPr/>
          <p:nvPr/>
        </p:nvSpPr>
        <p:spPr>
          <a:xfrm>
            <a:off x="7260480" y="2541960"/>
            <a:ext cx="13896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UK, EU &amp; international options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Costs and cut-off times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9" name="Shape 36"/>
          <p:cNvSpPr/>
          <p:nvPr/>
        </p:nvSpPr>
        <p:spPr>
          <a:xfrm>
            <a:off x="7260480" y="4206240"/>
            <a:ext cx="1389600" cy="36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37"/>
          <p:cNvSpPr/>
          <p:nvPr/>
        </p:nvSpPr>
        <p:spPr>
          <a:xfrm>
            <a:off x="7671960" y="4297680"/>
            <a:ext cx="566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f766e"/>
                </a:solidFill>
                <a:latin typeface="Calibri"/>
                <a:ea typeface="Calibri"/>
              </a:rPr>
              <a:t>PDF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91" name="Text 38"/>
          <p:cNvSpPr/>
          <p:nvPr/>
        </p:nvSpPr>
        <p:spPr>
          <a:xfrm>
            <a:off x="365760" y="484632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All documents uploaded to Amazon S3 (sloff-electronics-kb-docs · us-east-1) and synced to Bedrock Knowledge Base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92" name="Shape 39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1"/>
          <p:cNvSpPr/>
          <p:nvPr/>
        </p:nvSpPr>
        <p:spPr>
          <a:xfrm>
            <a:off x="457200" y="20124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299" strike="noStrike">
                <a:solidFill>
                  <a:srgbClr val="0ea5e9"/>
                </a:solidFill>
                <a:latin typeface="Calibri"/>
                <a:ea typeface="Calibri"/>
              </a:rPr>
              <a:t>LIVE TESTING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7132320" y="137160"/>
            <a:ext cx="1645560" cy="685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3"/>
          <p:cNvSpPr/>
          <p:nvPr/>
        </p:nvSpPr>
        <p:spPr>
          <a:xfrm>
            <a:off x="7132320" y="13716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10b981"/>
                </a:solidFill>
                <a:latin typeface="Calibri"/>
                <a:ea typeface="Calibri"/>
              </a:rPr>
              <a:t>5 / 5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7132320" y="53028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199" strike="noStrike">
                <a:solidFill>
                  <a:srgbClr val="94a3b8"/>
                </a:solidFill>
                <a:latin typeface="Calibri"/>
                <a:ea typeface="Calibri"/>
              </a:rPr>
              <a:t>PASSED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457200" y="47556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0a1628"/>
                </a:solidFill>
                <a:latin typeface="Calibri"/>
                <a:ea typeface="Calibri"/>
              </a:rPr>
              <a:t>All test queries answered correctly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99" name="Shape 6"/>
          <p:cNvSpPr/>
          <p:nvPr/>
        </p:nvSpPr>
        <p:spPr>
          <a:xfrm>
            <a:off x="365760" y="1024200"/>
            <a:ext cx="8412120" cy="676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0" name="Shape 7"/>
          <p:cNvSpPr/>
          <p:nvPr/>
        </p:nvSpPr>
        <p:spPr>
          <a:xfrm>
            <a:off x="365760" y="1024200"/>
            <a:ext cx="54360" cy="676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01" name="Image 0" descr="preencoded.png"/>
          <p:cNvPicPr/>
          <p:nvPr/>
        </p:nvPicPr>
        <p:blipFill>
          <a:blip r:embed="rId1"/>
          <a:stretch/>
        </p:blipFill>
        <p:spPr>
          <a:xfrm>
            <a:off x="511920" y="122544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02" name="Text 8"/>
          <p:cNvSpPr/>
          <p:nvPr/>
        </p:nvSpPr>
        <p:spPr>
          <a:xfrm>
            <a:off x="877680" y="1060560"/>
            <a:ext cx="5028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How long do I have to return a laptop?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03" name="Text 9"/>
          <p:cNvSpPr/>
          <p:nvPr/>
        </p:nvSpPr>
        <p:spPr>
          <a:xfrm>
            <a:off x="877680" y="138996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Source: Returns Policy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04" name="Shape 10"/>
          <p:cNvSpPr/>
          <p:nvPr/>
        </p:nvSpPr>
        <p:spPr>
          <a:xfrm>
            <a:off x="6035040" y="1115640"/>
            <a:ext cx="2559960" cy="49356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11"/>
          <p:cNvSpPr/>
          <p:nvPr/>
        </p:nvSpPr>
        <p:spPr>
          <a:xfrm>
            <a:off x="6080760" y="1115640"/>
            <a:ext cx="24685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66534"/>
                </a:solidFill>
                <a:latin typeface="Calibri"/>
                <a:ea typeface="Calibri"/>
              </a:rPr>
              <a:t>30 days from delivery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06" name="Shape 12"/>
          <p:cNvSpPr/>
          <p:nvPr/>
        </p:nvSpPr>
        <p:spPr>
          <a:xfrm>
            <a:off x="365760" y="1792080"/>
            <a:ext cx="8412120" cy="676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7" name="Shape 13"/>
          <p:cNvSpPr/>
          <p:nvPr/>
        </p:nvSpPr>
        <p:spPr>
          <a:xfrm>
            <a:off x="365760" y="1792080"/>
            <a:ext cx="54360" cy="676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08" name="Image 1" descr="preencoded.png"/>
          <p:cNvPicPr/>
          <p:nvPr/>
        </p:nvPicPr>
        <p:blipFill>
          <a:blip r:embed="rId2"/>
          <a:stretch/>
        </p:blipFill>
        <p:spPr>
          <a:xfrm>
            <a:off x="511920" y="19933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09" name="Text 14"/>
          <p:cNvSpPr/>
          <p:nvPr/>
        </p:nvSpPr>
        <p:spPr>
          <a:xfrm>
            <a:off x="877680" y="1828800"/>
            <a:ext cx="5028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What is the price of the SloffBook Pro 15?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10" name="Text 15"/>
          <p:cNvSpPr/>
          <p:nvPr/>
        </p:nvSpPr>
        <p:spPr>
          <a:xfrm>
            <a:off x="877680" y="215784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Source: Product Catalogue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11" name="Shape 16"/>
          <p:cNvSpPr/>
          <p:nvPr/>
        </p:nvSpPr>
        <p:spPr>
          <a:xfrm>
            <a:off x="6035040" y="1883520"/>
            <a:ext cx="2559960" cy="49356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17"/>
          <p:cNvSpPr/>
          <p:nvPr/>
        </p:nvSpPr>
        <p:spPr>
          <a:xfrm>
            <a:off x="6080760" y="1883520"/>
            <a:ext cx="24685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66534"/>
                </a:solidFill>
                <a:latin typeface="Calibri"/>
                <a:ea typeface="Calibri"/>
              </a:rPr>
              <a:t>£1,199 inc. VAT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13" name="Shape 18"/>
          <p:cNvSpPr/>
          <p:nvPr/>
        </p:nvSpPr>
        <p:spPr>
          <a:xfrm>
            <a:off x="365760" y="2560320"/>
            <a:ext cx="8412120" cy="676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4" name="Shape 19"/>
          <p:cNvSpPr/>
          <p:nvPr/>
        </p:nvSpPr>
        <p:spPr>
          <a:xfrm>
            <a:off x="365760" y="2560320"/>
            <a:ext cx="54360" cy="676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15" name="Image 2" descr="preencoded.png"/>
          <p:cNvPicPr/>
          <p:nvPr/>
        </p:nvPicPr>
        <p:blipFill>
          <a:blip r:embed="rId3"/>
          <a:stretch/>
        </p:blipFill>
        <p:spPr>
          <a:xfrm>
            <a:off x="511920" y="276156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16" name="Text 20"/>
          <p:cNvSpPr/>
          <p:nvPr/>
        </p:nvSpPr>
        <p:spPr>
          <a:xfrm>
            <a:off x="877680" y="2597040"/>
            <a:ext cx="5028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Is liquid damage covered under warranty?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17" name="Text 21"/>
          <p:cNvSpPr/>
          <p:nvPr/>
        </p:nvSpPr>
        <p:spPr>
          <a:xfrm>
            <a:off x="877680" y="292608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Source: Warranty Policy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18" name="Shape 22"/>
          <p:cNvSpPr/>
          <p:nvPr/>
        </p:nvSpPr>
        <p:spPr>
          <a:xfrm>
            <a:off x="6035040" y="2651760"/>
            <a:ext cx="2559960" cy="49356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23"/>
          <p:cNvSpPr/>
          <p:nvPr/>
        </p:nvSpPr>
        <p:spPr>
          <a:xfrm>
            <a:off x="6080760" y="2651760"/>
            <a:ext cx="24685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66534"/>
                </a:solidFill>
                <a:latin typeface="Calibri"/>
                <a:ea typeface="Calibri"/>
              </a:rPr>
              <a:t>No — physical damage excluded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20" name="Shape 24"/>
          <p:cNvSpPr/>
          <p:nvPr/>
        </p:nvSpPr>
        <p:spPr>
          <a:xfrm>
            <a:off x="365760" y="3328560"/>
            <a:ext cx="8412120" cy="676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1" name="Shape 25"/>
          <p:cNvSpPr/>
          <p:nvPr/>
        </p:nvSpPr>
        <p:spPr>
          <a:xfrm>
            <a:off x="365760" y="3328560"/>
            <a:ext cx="54360" cy="676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22" name="Image 3" descr="preencoded.png"/>
          <p:cNvPicPr/>
          <p:nvPr/>
        </p:nvPicPr>
        <p:blipFill>
          <a:blip r:embed="rId4"/>
          <a:stretch/>
        </p:blipFill>
        <p:spPr>
          <a:xfrm>
            <a:off x="511920" y="352944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23" name="Text 26"/>
          <p:cNvSpPr/>
          <p:nvPr/>
        </p:nvSpPr>
        <p:spPr>
          <a:xfrm>
            <a:off x="877680" y="3364920"/>
            <a:ext cx="5028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My SloffPhone X12 Pro is overheating. What should I do?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24" name="Text 27"/>
          <p:cNvSpPr/>
          <p:nvPr/>
        </p:nvSpPr>
        <p:spPr>
          <a:xfrm>
            <a:off x="877680" y="369432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Source: Customer FAQ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25" name="Shape 28"/>
          <p:cNvSpPr/>
          <p:nvPr/>
        </p:nvSpPr>
        <p:spPr>
          <a:xfrm>
            <a:off x="6035040" y="3420000"/>
            <a:ext cx="2559960" cy="49356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29"/>
          <p:cNvSpPr/>
          <p:nvPr/>
        </p:nvSpPr>
        <p:spPr>
          <a:xfrm>
            <a:off x="6080760" y="3420000"/>
            <a:ext cx="24685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66534"/>
                </a:solidFill>
                <a:latin typeface="Calibri"/>
                <a:ea typeface="Calibri"/>
              </a:rPr>
              <a:t>3-step guide returned with citation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27" name="Shape 30"/>
          <p:cNvSpPr/>
          <p:nvPr/>
        </p:nvSpPr>
        <p:spPr>
          <a:xfrm>
            <a:off x="365760" y="4096440"/>
            <a:ext cx="8412120" cy="676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8" name="Shape 31"/>
          <p:cNvSpPr/>
          <p:nvPr/>
        </p:nvSpPr>
        <p:spPr>
          <a:xfrm>
            <a:off x="365760" y="4096440"/>
            <a:ext cx="54360" cy="676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29" name="Image 4" descr="preencoded.png"/>
          <p:cNvPicPr/>
          <p:nvPr/>
        </p:nvPicPr>
        <p:blipFill>
          <a:blip r:embed="rId5"/>
          <a:stretch/>
        </p:blipFill>
        <p:spPr>
          <a:xfrm>
            <a:off x="511920" y="429768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30" name="Text 32"/>
          <p:cNvSpPr/>
          <p:nvPr/>
        </p:nvSpPr>
        <p:spPr>
          <a:xfrm>
            <a:off x="877680" y="4133160"/>
            <a:ext cx="5028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How much does next day delivery cost?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31" name="Text 33"/>
          <p:cNvSpPr/>
          <p:nvPr/>
        </p:nvSpPr>
        <p:spPr>
          <a:xfrm>
            <a:off x="877680" y="446220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Source: Shipping Policy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32" name="Shape 34"/>
          <p:cNvSpPr/>
          <p:nvPr/>
        </p:nvSpPr>
        <p:spPr>
          <a:xfrm>
            <a:off x="6035040" y="4187880"/>
            <a:ext cx="2559960" cy="49356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Text 35"/>
          <p:cNvSpPr/>
          <p:nvPr/>
        </p:nvSpPr>
        <p:spPr>
          <a:xfrm>
            <a:off x="6080760" y="4187880"/>
            <a:ext cx="24685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66534"/>
                </a:solidFill>
                <a:latin typeface="Calibri"/>
                <a:ea typeface="Calibri"/>
              </a:rPr>
              <a:t>£12.99, cut-off 1:00 PM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34" name="Shape 36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1"/>
          <p:cNvSpPr/>
          <p:nvPr/>
        </p:nvSpPr>
        <p:spPr>
          <a:xfrm>
            <a:off x="457200" y="201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299" strike="noStrike">
                <a:solidFill>
                  <a:srgbClr val="0ea5e9"/>
                </a:solidFill>
                <a:latin typeface="Calibri"/>
                <a:ea typeface="Calibri"/>
              </a:rPr>
              <a:t>KEY LEARNINGS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37" name="Text 2"/>
          <p:cNvSpPr/>
          <p:nvPr/>
        </p:nvSpPr>
        <p:spPr>
          <a:xfrm>
            <a:off x="457200" y="4755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0a1628"/>
                </a:solidFill>
                <a:latin typeface="Calibri"/>
                <a:ea typeface="Calibri"/>
              </a:rPr>
              <a:t>What we learned building this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38" name="Shape 3"/>
          <p:cNvSpPr/>
          <p:nvPr/>
        </p:nvSpPr>
        <p:spPr>
          <a:xfrm>
            <a:off x="365760" y="1097280"/>
            <a:ext cx="4160160" cy="1663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9" name="Shape 4"/>
          <p:cNvSpPr/>
          <p:nvPr/>
        </p:nvSpPr>
        <p:spPr>
          <a:xfrm>
            <a:off x="365760" y="1097280"/>
            <a:ext cx="4160160" cy="5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Shape 5"/>
          <p:cNvSpPr/>
          <p:nvPr/>
        </p:nvSpPr>
        <p:spPr>
          <a:xfrm>
            <a:off x="530280" y="1298520"/>
            <a:ext cx="456840" cy="4568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41" name="Image 0" descr="preencoded.png"/>
          <p:cNvPicPr/>
          <p:nvPr/>
        </p:nvPicPr>
        <p:blipFill>
          <a:blip r:embed="rId1"/>
          <a:stretch/>
        </p:blipFill>
        <p:spPr>
          <a:xfrm>
            <a:off x="557640" y="132588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242" name="Text 6"/>
          <p:cNvSpPr/>
          <p:nvPr/>
        </p:nvSpPr>
        <p:spPr>
          <a:xfrm>
            <a:off x="1115640" y="1261800"/>
            <a:ext cx="3245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a1628"/>
                </a:solidFill>
                <a:latin typeface="Calibri"/>
                <a:ea typeface="Calibri"/>
              </a:rPr>
              <a:t>Root User Restriction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43" name="Text 7"/>
          <p:cNvSpPr/>
          <p:nvPr/>
        </p:nvSpPr>
        <p:spPr>
          <a:xfrm>
            <a:off x="530280" y="1901880"/>
            <a:ext cx="3840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Calibri"/>
              </a:rPr>
              <a:t>Bedrock Knowledge Base blocks root user operations. Create an IAM user before starting any Bedrock project.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44" name="Shape 8"/>
          <p:cNvSpPr/>
          <p:nvPr/>
        </p:nvSpPr>
        <p:spPr>
          <a:xfrm>
            <a:off x="4754880" y="1097280"/>
            <a:ext cx="4160160" cy="1663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5" name="Shape 9"/>
          <p:cNvSpPr/>
          <p:nvPr/>
        </p:nvSpPr>
        <p:spPr>
          <a:xfrm>
            <a:off x="4754880" y="1097280"/>
            <a:ext cx="4160160" cy="5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Shape 10"/>
          <p:cNvSpPr/>
          <p:nvPr/>
        </p:nvSpPr>
        <p:spPr>
          <a:xfrm>
            <a:off x="4919400" y="1298520"/>
            <a:ext cx="456840" cy="4568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47" name="Image 1" descr="preencoded.png"/>
          <p:cNvPicPr/>
          <p:nvPr/>
        </p:nvPicPr>
        <p:blipFill>
          <a:blip r:embed="rId2"/>
          <a:stretch/>
        </p:blipFill>
        <p:spPr>
          <a:xfrm>
            <a:off x="4946760" y="132588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248" name="Text 11"/>
          <p:cNvSpPr/>
          <p:nvPr/>
        </p:nvSpPr>
        <p:spPr>
          <a:xfrm>
            <a:off x="5504760" y="1261800"/>
            <a:ext cx="3245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a1628"/>
                </a:solidFill>
                <a:latin typeface="Calibri"/>
                <a:ea typeface="Calibri"/>
              </a:rPr>
              <a:t>Region Selection Matters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49" name="Text 12"/>
          <p:cNvSpPr/>
          <p:nvPr/>
        </p:nvSpPr>
        <p:spPr>
          <a:xfrm>
            <a:off x="4919400" y="1901880"/>
            <a:ext cx="3840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Calibri"/>
              </a:rPr>
              <a:t>eu-west-2 (London) lacks full Bedrock support. Switch to us-east-1 before building not after.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50" name="Shape 13"/>
          <p:cNvSpPr/>
          <p:nvPr/>
        </p:nvSpPr>
        <p:spPr>
          <a:xfrm>
            <a:off x="365760" y="2944440"/>
            <a:ext cx="4160160" cy="1663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1" name="Shape 14"/>
          <p:cNvSpPr/>
          <p:nvPr/>
        </p:nvSpPr>
        <p:spPr>
          <a:xfrm>
            <a:off x="365760" y="2944440"/>
            <a:ext cx="4160160" cy="5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Shape 15"/>
          <p:cNvSpPr/>
          <p:nvPr/>
        </p:nvSpPr>
        <p:spPr>
          <a:xfrm>
            <a:off x="530280" y="3145680"/>
            <a:ext cx="456840" cy="4568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53" name="Image 2" descr="preencoded.png"/>
          <p:cNvPicPr/>
          <p:nvPr/>
        </p:nvPicPr>
        <p:blipFill>
          <a:blip r:embed="rId3"/>
          <a:stretch/>
        </p:blipFill>
        <p:spPr>
          <a:xfrm>
            <a:off x="557640" y="317304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254" name="Text 16"/>
          <p:cNvSpPr/>
          <p:nvPr/>
        </p:nvSpPr>
        <p:spPr>
          <a:xfrm>
            <a:off x="1115640" y="3108960"/>
            <a:ext cx="3245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a1628"/>
                </a:solidFill>
                <a:latin typeface="Calibri"/>
                <a:ea typeface="Calibri"/>
              </a:rPr>
              <a:t>Anthropic Model Access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55" name="Text 17"/>
          <p:cNvSpPr/>
          <p:nvPr/>
        </p:nvSpPr>
        <p:spPr>
          <a:xfrm>
            <a:off x="530280" y="3749040"/>
            <a:ext cx="3840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Calibri"/>
              </a:rPr>
              <a:t>Claude models require a use case submission at the Bedrock Model Catalog. Submit on day one, not build day.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56" name="Shape 18"/>
          <p:cNvSpPr/>
          <p:nvPr/>
        </p:nvSpPr>
        <p:spPr>
          <a:xfrm>
            <a:off x="4754880" y="2944440"/>
            <a:ext cx="4160160" cy="1663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7" name="Shape 19"/>
          <p:cNvSpPr/>
          <p:nvPr/>
        </p:nvSpPr>
        <p:spPr>
          <a:xfrm>
            <a:off x="4754880" y="2944440"/>
            <a:ext cx="4160160" cy="5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Shape 20"/>
          <p:cNvSpPr/>
          <p:nvPr/>
        </p:nvSpPr>
        <p:spPr>
          <a:xfrm>
            <a:off x="4919400" y="3145680"/>
            <a:ext cx="456840" cy="4568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59" name="Image 3" descr="preencoded.png"/>
          <p:cNvPicPr/>
          <p:nvPr/>
        </p:nvPicPr>
        <p:blipFill>
          <a:blip r:embed="rId4"/>
          <a:stretch/>
        </p:blipFill>
        <p:spPr>
          <a:xfrm>
            <a:off x="4946760" y="317304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260" name="Text 21"/>
          <p:cNvSpPr/>
          <p:nvPr/>
        </p:nvSpPr>
        <p:spPr>
          <a:xfrm>
            <a:off x="5504760" y="3108960"/>
            <a:ext cx="3245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a1628"/>
                </a:solidFill>
                <a:latin typeface="Calibri"/>
                <a:ea typeface="Calibri"/>
              </a:rPr>
              <a:t>Sync Is a Separate Step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61" name="Text 22"/>
          <p:cNvSpPr/>
          <p:nvPr/>
        </p:nvSpPr>
        <p:spPr>
          <a:xfrm>
            <a:off x="4919400" y="3749040"/>
            <a:ext cx="3840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Calibri"/>
              </a:rPr>
              <a:t>Knowledge Base creation does not auto-ingest documents. The sync job must be explicitly triggered after creation.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62" name="Shape 23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Text 1"/>
          <p:cNvSpPr/>
          <p:nvPr/>
        </p:nvSpPr>
        <p:spPr>
          <a:xfrm>
            <a:off x="457200" y="201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299" strike="noStrike">
                <a:solidFill>
                  <a:srgbClr val="0ea5e9"/>
                </a:solidFill>
                <a:latin typeface="Calibri"/>
                <a:ea typeface="Calibri"/>
              </a:rPr>
              <a:t>WHAT WE BUILT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5" name="Text 2"/>
          <p:cNvSpPr/>
          <p:nvPr/>
        </p:nvSpPr>
        <p:spPr>
          <a:xfrm>
            <a:off x="457200" y="475560"/>
            <a:ext cx="5943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A production-pattern RAG pipeline on AWS</a:t>
            </a:r>
            <a:endParaRPr b="0" lang="en-US" sz="2600" spc="-1" strike="noStrike">
              <a:latin typeface="Arial"/>
            </a:endParaRPr>
          </a:p>
        </p:txBody>
      </p:sp>
      <p:pic>
        <p:nvPicPr>
          <p:cNvPr id="266" name="Image 0" descr="preencoded.png"/>
          <p:cNvPicPr/>
          <p:nvPr/>
        </p:nvPicPr>
        <p:blipFill>
          <a:blip r:embed="rId1"/>
          <a:stretch/>
        </p:blipFill>
        <p:spPr>
          <a:xfrm>
            <a:off x="457200" y="117036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67" name="Text 3"/>
          <p:cNvSpPr/>
          <p:nvPr/>
        </p:nvSpPr>
        <p:spPr>
          <a:xfrm>
            <a:off x="822960" y="1143000"/>
            <a:ext cx="5028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bae6fd"/>
                </a:solidFill>
                <a:latin typeface="Calibri"/>
                <a:ea typeface="Calibri"/>
              </a:rPr>
              <a:t>S3 knowledge base — 5 Sloff Electronics documents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268" name="Image 1" descr="preencoded.png"/>
          <p:cNvPicPr/>
          <p:nvPr/>
        </p:nvPicPr>
        <p:blipFill>
          <a:blip r:embed="rId2"/>
          <a:stretch/>
        </p:blipFill>
        <p:spPr>
          <a:xfrm>
            <a:off x="457200" y="173736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69" name="Text 4"/>
          <p:cNvSpPr/>
          <p:nvPr/>
        </p:nvSpPr>
        <p:spPr>
          <a:xfrm>
            <a:off x="822960" y="1710000"/>
            <a:ext cx="5028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bae6fd"/>
                </a:solidFill>
                <a:latin typeface="Calibri"/>
                <a:ea typeface="Calibri"/>
              </a:rPr>
              <a:t>Bedrock Knowledge Base with OpenSearch Serverless vector store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270" name="Image 2" descr="preencoded.png"/>
          <p:cNvPicPr/>
          <p:nvPr/>
        </p:nvPicPr>
        <p:blipFill>
          <a:blip r:embed="rId3"/>
          <a:stretch/>
        </p:blipFill>
        <p:spPr>
          <a:xfrm>
            <a:off x="457200" y="230436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71" name="Text 5"/>
          <p:cNvSpPr/>
          <p:nvPr/>
        </p:nvSpPr>
        <p:spPr>
          <a:xfrm>
            <a:off x="822960" y="2277000"/>
            <a:ext cx="5028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bae6fd"/>
                </a:solidFill>
                <a:latin typeface="Calibri"/>
                <a:ea typeface="Calibri"/>
              </a:rPr>
              <a:t>Titan Embeddings G1 — 1536-dimensional vector representations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272" name="Image 3" descr="preencoded.png"/>
          <p:cNvPicPr/>
          <p:nvPr/>
        </p:nvPicPr>
        <p:blipFill>
          <a:blip r:embed="rId4"/>
          <a:stretch/>
        </p:blipFill>
        <p:spPr>
          <a:xfrm>
            <a:off x="457200" y="287136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73" name="Text 6"/>
          <p:cNvSpPr/>
          <p:nvPr/>
        </p:nvSpPr>
        <p:spPr>
          <a:xfrm>
            <a:off x="822960" y="2843640"/>
            <a:ext cx="5028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bae6fd"/>
                </a:solidFill>
                <a:latin typeface="Calibri"/>
                <a:ea typeface="Calibri"/>
              </a:rPr>
              <a:t>Claude Sonnet 4.6 — grounded response generation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274" name="Image 4" descr="preencoded.png"/>
          <p:cNvPicPr/>
          <p:nvPr/>
        </p:nvPicPr>
        <p:blipFill>
          <a:blip r:embed="rId5"/>
          <a:stretch/>
        </p:blipFill>
        <p:spPr>
          <a:xfrm>
            <a:off x="457200" y="34380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75" name="Text 7"/>
          <p:cNvSpPr/>
          <p:nvPr/>
        </p:nvSpPr>
        <p:spPr>
          <a:xfrm>
            <a:off x="822960" y="3410640"/>
            <a:ext cx="5028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bae6fd"/>
                </a:solidFill>
                <a:latin typeface="Calibri"/>
                <a:ea typeface="Calibri"/>
              </a:rPr>
              <a:t>5 / 5 test queries answered accurately with source citations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276" name="Image 5" descr="preencoded.png"/>
          <p:cNvPicPr/>
          <p:nvPr/>
        </p:nvPicPr>
        <p:blipFill>
          <a:blip r:embed="rId6"/>
          <a:stretch/>
        </p:blipFill>
        <p:spPr>
          <a:xfrm>
            <a:off x="457200" y="40050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77" name="Text 8"/>
          <p:cNvSpPr/>
          <p:nvPr/>
        </p:nvSpPr>
        <p:spPr>
          <a:xfrm>
            <a:off x="822960" y="3977640"/>
            <a:ext cx="5028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bae6fd"/>
                </a:solidFill>
                <a:latin typeface="Calibri"/>
                <a:ea typeface="Calibri"/>
              </a:rPr>
              <a:t>Extends Sloff Electronics three-tier infrastructure from Group B Assignment 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8" name="Shape 9"/>
          <p:cNvSpPr/>
          <p:nvPr/>
        </p:nvSpPr>
        <p:spPr>
          <a:xfrm>
            <a:off x="6583680" y="1005840"/>
            <a:ext cx="2194200" cy="1115280"/>
          </a:xfrm>
          <a:prstGeom prst="rect">
            <a:avLst/>
          </a:prstGeom>
          <a:solidFill>
            <a:srgbClr val="132238"/>
          </a:solidFill>
          <a:ln w="6350">
            <a:solidFill>
              <a:srgbClr val="1e3a5f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9" name="Shape 10"/>
          <p:cNvSpPr/>
          <p:nvPr/>
        </p:nvSpPr>
        <p:spPr>
          <a:xfrm>
            <a:off x="6583680" y="1005840"/>
            <a:ext cx="2194200" cy="45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Text 11"/>
          <p:cNvSpPr/>
          <p:nvPr/>
        </p:nvSpPr>
        <p:spPr>
          <a:xfrm>
            <a:off x="6583680" y="1097280"/>
            <a:ext cx="21942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f59e0b"/>
                </a:solidFill>
                <a:latin typeface="Calibri"/>
                <a:ea typeface="Calibri"/>
              </a:rPr>
              <a:t>5/5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81" name="Text 12"/>
          <p:cNvSpPr/>
          <p:nvPr/>
        </p:nvSpPr>
        <p:spPr>
          <a:xfrm>
            <a:off x="6583680" y="166428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97" strike="noStrike">
                <a:solidFill>
                  <a:srgbClr val="94a3b8"/>
                </a:solidFill>
                <a:latin typeface="Calibri"/>
                <a:ea typeface="Calibri"/>
              </a:rPr>
              <a:t>Tests passed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82" name="Shape 13"/>
          <p:cNvSpPr/>
          <p:nvPr/>
        </p:nvSpPr>
        <p:spPr>
          <a:xfrm>
            <a:off x="6583680" y="2304360"/>
            <a:ext cx="2194200" cy="1115280"/>
          </a:xfrm>
          <a:prstGeom prst="rect">
            <a:avLst/>
          </a:prstGeom>
          <a:solidFill>
            <a:srgbClr val="132238"/>
          </a:solidFill>
          <a:ln w="6350">
            <a:solidFill>
              <a:srgbClr val="1e3a5f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3" name="Shape 14"/>
          <p:cNvSpPr/>
          <p:nvPr/>
        </p:nvSpPr>
        <p:spPr>
          <a:xfrm>
            <a:off x="6583680" y="2304360"/>
            <a:ext cx="2194200" cy="45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15"/>
          <p:cNvSpPr/>
          <p:nvPr/>
        </p:nvSpPr>
        <p:spPr>
          <a:xfrm>
            <a:off x="6583680" y="2395800"/>
            <a:ext cx="21942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f59e0b"/>
                </a:solidFill>
                <a:latin typeface="Calibri"/>
                <a:ea typeface="Calibri"/>
              </a:rPr>
              <a:t>5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85" name="Text 16"/>
          <p:cNvSpPr/>
          <p:nvPr/>
        </p:nvSpPr>
        <p:spPr>
          <a:xfrm>
            <a:off x="6583680" y="296280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97" strike="noStrike">
                <a:solidFill>
                  <a:srgbClr val="94a3b8"/>
                </a:solidFill>
                <a:latin typeface="Calibri"/>
                <a:ea typeface="Calibri"/>
              </a:rPr>
              <a:t>Documents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86" name="Shape 17"/>
          <p:cNvSpPr/>
          <p:nvPr/>
        </p:nvSpPr>
        <p:spPr>
          <a:xfrm>
            <a:off x="6583680" y="3602880"/>
            <a:ext cx="2194200" cy="1115280"/>
          </a:xfrm>
          <a:prstGeom prst="rect">
            <a:avLst/>
          </a:prstGeom>
          <a:solidFill>
            <a:srgbClr val="132238"/>
          </a:solidFill>
          <a:ln w="6350">
            <a:solidFill>
              <a:srgbClr val="1e3a5f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7" name="Shape 18"/>
          <p:cNvSpPr/>
          <p:nvPr/>
        </p:nvSpPr>
        <p:spPr>
          <a:xfrm>
            <a:off x="6583680" y="3602880"/>
            <a:ext cx="2194200" cy="45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Text 19"/>
          <p:cNvSpPr/>
          <p:nvPr/>
        </p:nvSpPr>
        <p:spPr>
          <a:xfrm>
            <a:off x="6583680" y="3694320"/>
            <a:ext cx="21942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f59e0b"/>
                </a:solidFill>
                <a:latin typeface="Calibri"/>
                <a:ea typeface="Calibri"/>
              </a:rPr>
              <a:t>6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89" name="Text 20"/>
          <p:cNvSpPr/>
          <p:nvPr/>
        </p:nvSpPr>
        <p:spPr>
          <a:xfrm>
            <a:off x="6583680" y="426096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97" strike="noStrike">
                <a:solidFill>
                  <a:srgbClr val="94a3b8"/>
                </a:solidFill>
                <a:latin typeface="Calibri"/>
                <a:ea typeface="Calibri"/>
              </a:rPr>
              <a:t>AWS services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90" name="Text 21"/>
          <p:cNvSpPr/>
          <p:nvPr/>
        </p:nvSpPr>
        <p:spPr>
          <a:xfrm>
            <a:off x="457200" y="48463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CloudBoosta Academy  ·  Group B  ·  May 2026  ·  us-east-1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91" name="Shape 22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PPTXPresentationEditor/1.2.0.0$MacOSX_AARCH64 LibreOffice_project/e114eadc50a9ff8d8c8a0567d6da8f454beeb84f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2026-05-11T07:41:53Z</dcterms:created>
  <dc:creator>PptxGenJS</dc:creator>
  <dc:description/>
  <dc:language>en-US</dc:language>
  <cp:lastModifiedBy/>
  <dcterms:modified xsi:type="dcterms:W3CDTF">2026-05-11T08:55:42Z</dcterms:modified>
  <cp:revision>2</cp:revision>
  <dc:subject>PptxGenJS Presentation</dc:subject>
  <dc:title>Sloff Electronics — RAG Chatbot on AWS Bedrock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